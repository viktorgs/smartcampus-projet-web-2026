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651760"/>
            <a:ext cx="12191695" cy="201168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ce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0" y="274320"/>
            <a:ext cx="914399" cy="9143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54864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Calibri"/>
              </a:rPr>
              <a:t>ING2 · Projet Web dynamique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834640"/>
            <a:ext cx="106984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600" b="1">
                <a:solidFill>
                  <a:srgbClr val="FFFFFF"/>
                </a:solidFill>
                <a:latin typeface="Calibri"/>
              </a:rPr>
              <a:t>SmartCampus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84048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>
                <a:solidFill>
                  <a:srgbClr val="FFFFFF"/>
                </a:solidFill>
                <a:latin typeface="Calibri"/>
              </a:rPr>
              <a:t>La gestion académique de notre époque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02920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Calibri"/>
              </a:rPr>
              <a:t>Soutenance du projet final  ·  31 mai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5778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Équipe : Viktor GOUSSOT  ·  Nicolas CARMINATI  ·  Louis PEZE  ·  Alexis OSORIO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12648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École d'ingénieurs ciblée — Filières L1→M2, semestres, ECTS, groupes TD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Sommaire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5486400" cy="502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>
                <a:solidFill>
                  <a:srgbClr val="1B2631"/>
                </a:solidFill>
                <a:latin typeface="Calibri"/>
              </a:rPr>
              <a:t>•  1. Présentation générale du projet</a:t>
            </a:r>
          </a:p>
          <a:p>
            <a:pPr algn="l">
              <a:spcAft>
                <a:spcPts val="600"/>
              </a:spcAft>
            </a:pPr>
            <a:r>
              <a:rPr sz="1800">
                <a:solidFill>
                  <a:srgbClr val="1B2631"/>
                </a:solidFill>
                <a:latin typeface="Calibri"/>
              </a:rPr>
              <a:t>•  2. Équipe et répartition du travail</a:t>
            </a:r>
          </a:p>
          <a:p>
            <a:pPr algn="l">
              <a:spcAft>
                <a:spcPts val="600"/>
              </a:spcAft>
            </a:pPr>
            <a:r>
              <a:rPr sz="1800">
                <a:solidFill>
                  <a:srgbClr val="1B2631"/>
                </a:solidFill>
                <a:latin typeface="Calibri"/>
              </a:rPr>
              <a:t>•  3. Architecture finale du système</a:t>
            </a:r>
          </a:p>
          <a:p>
            <a:pPr algn="l">
              <a:spcAft>
                <a:spcPts val="600"/>
              </a:spcAft>
            </a:pPr>
            <a:r>
              <a:rPr sz="1800">
                <a:solidFill>
                  <a:srgbClr val="1B2631"/>
                </a:solidFill>
                <a:latin typeface="Calibri"/>
              </a:rPr>
              <a:t>•  4. Modèle entité-association</a:t>
            </a:r>
          </a:p>
          <a:p>
            <a:pPr algn="l">
              <a:spcAft>
                <a:spcPts val="600"/>
              </a:spcAft>
            </a:pPr>
            <a:r>
              <a:rPr sz="1800">
                <a:solidFill>
                  <a:srgbClr val="1B2631"/>
                </a:solidFill>
                <a:latin typeface="Calibri"/>
              </a:rPr>
              <a:t>•  5. Modèle relationnel</a:t>
            </a:r>
          </a:p>
          <a:p>
            <a:pPr algn="l">
              <a:spcAft>
                <a:spcPts val="600"/>
              </a:spcAft>
            </a:pPr>
            <a:r>
              <a:rPr sz="1800">
                <a:solidFill>
                  <a:srgbClr val="1B2631"/>
                </a:solidFill>
                <a:latin typeface="Calibri"/>
              </a:rPr>
              <a:t>•  6. Wireframes &amp; storyboard</a:t>
            </a:r>
          </a:p>
          <a:p>
            <a:pPr algn="l">
              <a:spcAft>
                <a:spcPts val="600"/>
              </a:spcAft>
            </a:pPr>
            <a:r>
              <a:rPr sz="1800">
                <a:solidFill>
                  <a:srgbClr val="1B2631"/>
                </a:solidFill>
                <a:latin typeface="Calibri"/>
              </a:rPr>
              <a:t>•  7. Workflows transactionnels &amp; 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80160"/>
            <a:ext cx="5486400" cy="502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>
                <a:solidFill>
                  <a:srgbClr val="1B2631"/>
                </a:solidFill>
                <a:latin typeface="Calibri"/>
              </a:rPr>
              <a:t>•  8. Spécifications fonctionnelles</a:t>
            </a:r>
          </a:p>
          <a:p>
            <a:pPr algn="l">
              <a:spcAft>
                <a:spcPts val="600"/>
              </a:spcAft>
            </a:pPr>
            <a:r>
              <a:rPr sz="1800">
                <a:solidFill>
                  <a:srgbClr val="1B2631"/>
                </a:solidFill>
                <a:latin typeface="Calibri"/>
              </a:rPr>
              <a:t>•  9. Règles métier académiques</a:t>
            </a:r>
          </a:p>
          <a:p>
            <a:pPr algn="l">
              <a:spcAft>
                <a:spcPts val="600"/>
              </a:spcAft>
            </a:pPr>
            <a:r>
              <a:rPr sz="1800">
                <a:solidFill>
                  <a:srgbClr val="1B2631"/>
                </a:solidFill>
                <a:latin typeface="Calibri"/>
              </a:rPr>
              <a:t>•  10. Journal d'assistance par IA</a:t>
            </a:r>
          </a:p>
          <a:p>
            <a:pPr algn="l">
              <a:spcAft>
                <a:spcPts val="600"/>
              </a:spcAft>
            </a:pPr>
            <a:r>
              <a:rPr sz="1800">
                <a:solidFill>
                  <a:srgbClr val="1B2631"/>
                </a:solidFill>
                <a:latin typeface="Calibri"/>
              </a:rPr>
              <a:t>•  11. Rapport de compromis techniques</a:t>
            </a:r>
          </a:p>
          <a:p>
            <a:pPr algn="l">
              <a:spcAft>
                <a:spcPts val="600"/>
              </a:spcAft>
            </a:pPr>
            <a:r>
              <a:rPr sz="1800">
                <a:solidFill>
                  <a:srgbClr val="1B2631"/>
                </a:solidFill>
                <a:latin typeface="Calibri"/>
              </a:rPr>
              <a:t>•  12. Versioning Git &amp; GitHub</a:t>
            </a:r>
          </a:p>
          <a:p>
            <a:pPr algn="l">
              <a:spcAft>
                <a:spcPts val="600"/>
              </a:spcAft>
            </a:pPr>
            <a:r>
              <a:rPr sz="1800">
                <a:solidFill>
                  <a:srgbClr val="1B2631"/>
                </a:solidFill>
                <a:latin typeface="Calibri"/>
              </a:rPr>
              <a:t>•  13. Bilans individuel et collectif</a:t>
            </a:r>
          </a:p>
          <a:p>
            <a:pPr algn="l">
              <a:spcAft>
                <a:spcPts val="600"/>
              </a:spcAft>
            </a:pPr>
            <a:r>
              <a:rPr sz="1800">
                <a:solidFill>
                  <a:srgbClr val="1B2631"/>
                </a:solidFill>
                <a:latin typeface="Calibri"/>
              </a:rPr>
              <a:t>•  14. Références et conclusion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6019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A89"/>
                </a:solidFill>
                <a:latin typeface="Calibri"/>
              </a:rPr>
              <a:t>SmartCampus  ·  Projet Web dynamique 2026  ·  ING2 — ECE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601968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B7A89"/>
                </a:solidFill>
                <a:latin typeface="Calibri"/>
              </a:rPr>
              <a:t>GOUSSOT · CARMINATI · PEZE · OSORIO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1. Présentation générale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2E86C1"/>
                </a:solidFill>
                <a:latin typeface="Calibri"/>
              </a:rPr>
              <a:t>Plateforme web de gestion académique pour une école d'ingénieurs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737360"/>
            <a:ext cx="3657600" cy="2286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297680" y="1737360"/>
            <a:ext cx="3657600" cy="2286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138160" y="1737360"/>
            <a:ext cx="3657600" cy="2286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874519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B2A4A"/>
                </a:solidFill>
                <a:latin typeface="Calibri"/>
              </a:rPr>
              <a:t>Contexte ciblé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286000"/>
            <a:ext cx="338328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>
                <a:solidFill>
                  <a:srgbClr val="1B2631"/>
                </a:solidFill>
                <a:latin typeface="Calibri"/>
              </a:rPr>
              <a:t>•  École d'ingénieurs</a:t>
            </a:r>
          </a:p>
          <a:p>
            <a:pPr algn="l">
              <a:spcAft>
                <a:spcPts val="600"/>
              </a:spcAft>
            </a:pPr>
            <a:r>
              <a:rPr sz="1300">
                <a:solidFill>
                  <a:srgbClr val="1B2631"/>
                </a:solidFill>
                <a:latin typeface="Calibri"/>
              </a:rPr>
              <a:t>•  Filières L1 → M2</a:t>
            </a:r>
          </a:p>
          <a:p>
            <a:pPr algn="l">
              <a:spcAft>
                <a:spcPts val="600"/>
              </a:spcAft>
            </a:pPr>
            <a:r>
              <a:rPr sz="1300">
                <a:solidFill>
                  <a:srgbClr val="1B2631"/>
                </a:solidFill>
                <a:latin typeface="Calibri"/>
              </a:rPr>
              <a:t>•  Semestres &amp; ECTS</a:t>
            </a:r>
          </a:p>
          <a:p>
            <a:pPr algn="l">
              <a:spcAft>
                <a:spcPts val="600"/>
              </a:spcAft>
            </a:pPr>
            <a:r>
              <a:rPr sz="1300">
                <a:solidFill>
                  <a:srgbClr val="1B2631"/>
                </a:solidFill>
                <a:latin typeface="Calibri"/>
              </a:rPr>
              <a:t>•  Groupes 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1874519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B2A4A"/>
                </a:solidFill>
                <a:latin typeface="Calibri"/>
              </a:rPr>
              <a:t>Acteurs (3 rôles)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2286000"/>
            <a:ext cx="338328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>
                <a:solidFill>
                  <a:srgbClr val="1B2631"/>
                </a:solidFill>
                <a:latin typeface="Calibri"/>
              </a:rPr>
              <a:t>•  Administrateur</a:t>
            </a:r>
          </a:p>
          <a:p>
            <a:pPr algn="l">
              <a:spcAft>
                <a:spcPts val="600"/>
              </a:spcAft>
            </a:pPr>
            <a:r>
              <a:rPr sz="1300">
                <a:solidFill>
                  <a:srgbClr val="1B2631"/>
                </a:solidFill>
                <a:latin typeface="Calibri"/>
              </a:rPr>
              <a:t>•  Enseignant</a:t>
            </a:r>
          </a:p>
          <a:p>
            <a:pPr algn="l">
              <a:spcAft>
                <a:spcPts val="600"/>
              </a:spcAft>
            </a:pPr>
            <a:r>
              <a:rPr sz="1300">
                <a:solidFill>
                  <a:srgbClr val="1B2631"/>
                </a:solidFill>
                <a:latin typeface="Calibri"/>
              </a:rPr>
              <a:t>•  Étudiant</a:t>
            </a:r>
          </a:p>
          <a:p>
            <a:pPr algn="l">
              <a:spcAft>
                <a:spcPts val="600"/>
              </a:spcAft>
            </a:pPr>
            <a:r>
              <a:rPr sz="1300">
                <a:solidFill>
                  <a:srgbClr val="1B2631"/>
                </a:solidFill>
                <a:latin typeface="Calibri"/>
              </a:rPr>
              <a:t>•  Accès cloisonnés (RBAC)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1874519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B2A4A"/>
                </a:solidFill>
                <a:latin typeface="Calibri"/>
              </a:rPr>
              <a:t>Périmètre fonctionnel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2286000"/>
            <a:ext cx="338328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>
                <a:solidFill>
                  <a:srgbClr val="1B2631"/>
                </a:solidFill>
                <a:latin typeface="Calibri"/>
              </a:rPr>
              <a:t>•  CRUD utilisateurs / cours</a:t>
            </a:r>
          </a:p>
          <a:p>
            <a:pPr algn="l">
              <a:spcAft>
                <a:spcPts val="600"/>
              </a:spcAft>
            </a:pPr>
            <a:r>
              <a:rPr sz="1300">
                <a:solidFill>
                  <a:srgbClr val="1B2631"/>
                </a:solidFill>
                <a:latin typeface="Calibri"/>
              </a:rPr>
              <a:t>•  Inscriptions, notes</a:t>
            </a:r>
          </a:p>
          <a:p>
            <a:pPr algn="l">
              <a:spcAft>
                <a:spcPts val="600"/>
              </a:spcAft>
            </a:pPr>
            <a:r>
              <a:rPr sz="1300">
                <a:solidFill>
                  <a:srgbClr val="1B2631"/>
                </a:solidFill>
                <a:latin typeface="Calibri"/>
              </a:rPr>
              <a:t>•  Emploi du temps</a:t>
            </a:r>
          </a:p>
          <a:p>
            <a:pPr algn="l">
              <a:spcAft>
                <a:spcPts val="600"/>
              </a:spcAft>
            </a:pPr>
            <a:r>
              <a:rPr sz="1300">
                <a:solidFill>
                  <a:srgbClr val="1B2631"/>
                </a:solidFill>
                <a:latin typeface="Calibri"/>
              </a:rPr>
              <a:t>•  PDF, messagerie, stats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2976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2E86C1"/>
                </a:solidFill>
                <a:latin typeface="Calibri"/>
              </a:rPr>
              <a:t>Objectifs techniques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709160"/>
            <a:ext cx="1124712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>
                <a:solidFill>
                  <a:srgbClr val="1B2631"/>
                </a:solidFill>
                <a:latin typeface="Calibri"/>
              </a:rPr>
              <a:t>•  Architecture client–serveur explicite : API REST PHP 8 + SPA HTML/CSS/JS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B2631"/>
                </a:solidFill>
                <a:latin typeface="Calibri"/>
              </a:rPr>
              <a:t>•  Base de données MySQL 8 structurée (PDO, requêtes préparées)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B2631"/>
                </a:solidFill>
                <a:latin typeface="Calibri"/>
              </a:rPr>
              <a:t>•  Pas de framework lourd : mini-noyau MVC maison, code maîtrisé et explicable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B2631"/>
                </a:solidFill>
                <a:latin typeface="Calibri"/>
              </a:rPr>
              <a:t>•  6 règles métier implémentées et testées (double inscription, capacité, prérequis, conflits, verrouillage notes)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66019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A89"/>
                </a:solidFill>
                <a:latin typeface="Calibri"/>
              </a:rPr>
              <a:t>SmartCampus  ·  Projet Web dynamique 2026  ·  ING2 — ECE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6601968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B7A89"/>
                </a:solidFill>
                <a:latin typeface="Calibri"/>
              </a:rPr>
              <a:t>GOUSSOT · CARMINATI · PEZE · OSORIO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2. Équipe &amp; répartition du travail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6B7A89"/>
                </a:solidFill>
                <a:latin typeface="Calibri"/>
              </a:rPr>
              <a:t>4 membres — rôles complémentaires front / back, revue croisée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600200"/>
          <a:ext cx="112471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200400"/>
                <a:gridCol w="5669280"/>
              </a:tblGrid>
              <a:tr h="475488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Membre</a:t>
                      </a:r>
                    </a:p>
                  </a:txBody>
                  <a:tcPr>
                    <a:solidFill>
                      <a:srgbClr val="0B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Rôle principal</a:t>
                      </a:r>
                    </a:p>
                  </a:txBody>
                  <a:tcPr>
                    <a:solidFill>
                      <a:srgbClr val="0B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Modules portés</a:t>
                      </a:r>
                    </a:p>
                  </a:txBody>
                  <a:tcPr>
                    <a:solidFill>
                      <a:srgbClr val="0B2A4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B2631"/>
                          </a:solidFill>
                        </a:rPr>
                        <a:t>Viktor GOUSSOT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B2631"/>
                          </a:solidFill>
                        </a:rPr>
                        <a:t>Chef de projet · Backend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B2631"/>
                          </a:solidFill>
                        </a:rPr>
                        <a:t>Noyau API, Auth &amp; sessions, CSRF/RBAC, CRUD utilisateurs/étudiants/profs/cours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B2631"/>
                          </a:solidFill>
                        </a:rPr>
                        <a:t>Nicolas CARMINATI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B2631"/>
                          </a:solidFill>
                        </a:rPr>
                        <a:t>Backend · Données · Règles métier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B2631"/>
                          </a:solidFill>
                        </a:rPr>
                        <a:t>MCD/MR, schéma SQL, règles académiques (Academic.php), API notes/inscriptions, PDF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B2631"/>
                          </a:solidFill>
                        </a:rPr>
                        <a:t>Louis PEZE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B2631"/>
                          </a:solidFill>
                        </a:rPr>
                        <a:t>Frontend · Pages de gestion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B2631"/>
                          </a:solidFill>
                        </a:rPr>
                        <a:t>Coquille SPA, design Bootstrap, pages étudiants/profs/cours, filtres, messagerie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B2631"/>
                          </a:solidFill>
                        </a:rPr>
                        <a:t>Alexis OSORIO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B2631"/>
                          </a:solidFill>
                        </a:rPr>
                        <a:t>Frontend · Dashboards &amp; EDT · Tests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B2631"/>
                          </a:solidFill>
                        </a:rPr>
                        <a:t>Tableaux de bord 3 rôles, emploi du temps, statistiques Chart.js, scénarios de test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42062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2E86C1"/>
                </a:solidFill>
                <a:latin typeface="Calibri"/>
              </a:rPr>
              <a:t>Organisation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617720"/>
            <a:ext cx="1124712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>
                <a:solidFill>
                  <a:srgbClr val="1B2631"/>
                </a:solidFill>
                <a:latin typeface="Calibri"/>
              </a:rPr>
              <a:t>•  Branches courtes par fonctionnalité, merge sur main après relecture croisée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B2631"/>
                </a:solidFill>
                <a:latin typeface="Calibri"/>
              </a:rPr>
              <a:t>•  Conventions de commit (feat / fix / docs / chore) — historique lisible sur GitHub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B2631"/>
                </a:solidFill>
                <a:latin typeface="Calibri"/>
              </a:rPr>
              <a:t>•  Chaque membre relit le code des autres — objectif : pouvoir expliquer tout le projet en soutenance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B2631"/>
                </a:solidFill>
                <a:latin typeface="Calibri"/>
              </a:rPr>
              <a:t>•  Points d'avancement réguliers — répartition vérifiable dans les contributions Git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019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A89"/>
                </a:solidFill>
                <a:latin typeface="Calibri"/>
              </a:rPr>
              <a:t>SmartCampus  ·  Projet Web dynamique 2026  ·  ING2 — ECE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601968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B7A89"/>
                </a:solidFill>
                <a:latin typeface="Calibri"/>
              </a:rPr>
              <a:t>GOUSSOT · CARMINATI · PEZE · OSORIO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3. Architecture finale du système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6B7A89"/>
                </a:solidFill>
                <a:latin typeface="Calibri"/>
              </a:rPr>
              <a:t>Séparation stricte frontend / backend autour d'une API REST</a:t>
            </a:r>
          </a:p>
        </p:txBody>
      </p:sp>
      <p:pic>
        <p:nvPicPr>
          <p:cNvPr id="6" name="Picture 5" descr="Schema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72814"/>
            <a:ext cx="7315200" cy="451821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38160" y="164592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B2A4A"/>
                </a:solidFill>
                <a:latin typeface="Calibri"/>
              </a:rPr>
              <a:t>Choix structurants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2057400"/>
            <a:ext cx="365760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>
                <a:solidFill>
                  <a:srgbClr val="1B2631"/>
                </a:solidFill>
                <a:latin typeface="Calibri"/>
              </a:rPr>
              <a:t>•  Front et back même origine (Apache)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B2631"/>
                </a:solidFill>
                <a:latin typeface="Calibri"/>
              </a:rPr>
              <a:t>•  Communication JSON / fetch + cookie session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B2631"/>
                </a:solidFill>
                <a:latin typeface="Calibri"/>
              </a:rPr>
              <a:t>•  Pas de framework JS : ES Modules natifs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B2631"/>
                </a:solidFill>
                <a:latin typeface="Calibri"/>
              </a:rPr>
              <a:t>•  Pas de framework PHP : routeur maison (~6 classes core)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B2631"/>
                </a:solidFill>
                <a:latin typeface="Calibri"/>
              </a:rPr>
              <a:t>•  Vendors locaux : démo hors-ligne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B2631"/>
                </a:solidFill>
                <a:latin typeface="Calibri"/>
              </a:rPr>
              <a:t>•  Validation côté client ET côté serveur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B2631"/>
                </a:solidFill>
                <a:latin typeface="Calibri"/>
              </a:rPr>
              <a:t>•  RBAC central avant chaque action sensible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019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A89"/>
                </a:solidFill>
                <a:latin typeface="Calibri"/>
              </a:rPr>
              <a:t>SmartCampus  ·  Projet Web dynamique 2026  ·  ING2 — ECE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601968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B7A89"/>
                </a:solidFill>
                <a:latin typeface="Calibri"/>
              </a:rPr>
              <a:t>GOUSSOT · CARMINATI · PEZE · OSORIO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4. Modèle entité-association (MCD)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6B7A89"/>
                </a:solidFill>
                <a:latin typeface="Calibri"/>
              </a:rPr>
              <a:t>10 entités, héritage users → profils, cardinalités cohérentes</a:t>
            </a:r>
          </a:p>
        </p:txBody>
      </p:sp>
      <p:pic>
        <p:nvPicPr>
          <p:cNvPr id="6" name="Picture 5" descr="Diagramme-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9567" y="1554480"/>
            <a:ext cx="6981986" cy="4846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869680" y="164592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Calibri"/>
              </a:rPr>
              <a:t>Choix de modélisation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0" y="2011680"/>
            <a:ext cx="301752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>
                <a:solidFill>
                  <a:srgbClr val="1B2631"/>
                </a:solidFill>
                <a:latin typeface="Calibri"/>
              </a:rPr>
              <a:t>•  users + student_profiles + teacher_profiles (héritage 1-1)</a:t>
            </a:r>
          </a:p>
          <a:p>
            <a:pPr algn="l">
              <a:spcAft>
                <a:spcPts val="600"/>
              </a:spcAft>
            </a:pPr>
            <a:r>
              <a:rPr sz="1100">
                <a:solidFill>
                  <a:srgbClr val="1B2631"/>
                </a:solidFill>
                <a:latin typeface="Calibri"/>
              </a:rPr>
              <a:t>•  Authentification unifiée, emails uniques tous rôles</a:t>
            </a:r>
          </a:p>
          <a:p>
            <a:pPr algn="l">
              <a:spcAft>
                <a:spcPts val="600"/>
              </a:spcAft>
            </a:pPr>
            <a:r>
              <a:rPr sz="1100">
                <a:solidFill>
                  <a:srgbClr val="1B2631"/>
                </a:solidFill>
                <a:latin typeface="Calibri"/>
              </a:rPr>
              <a:t>•  courses ⟷ enrollments ⟷ students (UNIQUE étudiant+cours)</a:t>
            </a:r>
          </a:p>
          <a:p>
            <a:pPr algn="l">
              <a:spcAft>
                <a:spcPts val="600"/>
              </a:spcAft>
            </a:pPr>
            <a:r>
              <a:rPr sz="1100">
                <a:solidFill>
                  <a:srgbClr val="1B2631"/>
                </a:solidFill>
                <a:latin typeface="Calibri"/>
              </a:rPr>
              <a:t>•  grades : note typée (CC1/CC2/DS/Projet/Examen) + is_locked</a:t>
            </a:r>
          </a:p>
          <a:p>
            <a:pPr algn="l">
              <a:spcAft>
                <a:spcPts val="600"/>
              </a:spcAft>
            </a:pPr>
            <a:r>
              <a:rPr sz="1100">
                <a:solidFill>
                  <a:srgbClr val="1B2631"/>
                </a:solidFill>
                <a:latin typeface="Calibri"/>
              </a:rPr>
              <a:t>•  schedule_slots : créneau (jour, heure, salle) lié au cours</a:t>
            </a:r>
          </a:p>
          <a:p>
            <a:pPr algn="l">
              <a:spcAft>
                <a:spcPts val="600"/>
              </a:spcAft>
            </a:pPr>
            <a:r>
              <a:rPr sz="1100">
                <a:solidFill>
                  <a:srgbClr val="1B2631"/>
                </a:solidFill>
                <a:latin typeface="Calibri"/>
              </a:rPr>
              <a:t>•  messages &amp; notifications : référencent directement users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019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A89"/>
                </a:solidFill>
                <a:latin typeface="Calibri"/>
              </a:rPr>
              <a:t>SmartCampus  ·  Projet Web dynamique 2026  ·  ING2 — ECE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601968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B7A89"/>
                </a:solidFill>
                <a:latin typeface="Calibri"/>
              </a:rPr>
              <a:t>GOUSSOT · CARMINATI · PEZE · OSORIO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5. Modèle relationnel final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6B7A89"/>
                </a:solidFill>
                <a:latin typeface="Calibri"/>
              </a:rPr>
              <a:t>Tables principales (clés primaires soulignées · #clé étrangère)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600200"/>
            <a:ext cx="5669280" cy="64008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6459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B2A4A"/>
                </a:solidFill>
                <a:latin typeface="Calibri"/>
              </a:rPr>
              <a:t>users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892808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B2631"/>
                </a:solidFill>
                <a:latin typeface="Calibri"/>
              </a:rPr>
              <a:t>(id, role, email, password_hash, first_name, last_name, gender, phone, is_active, created_at)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286000"/>
            <a:ext cx="5669280" cy="64008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3317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B2A4A"/>
                </a:solidFill>
                <a:latin typeface="Calibri"/>
              </a:rPr>
              <a:t>student_profiles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578608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B2631"/>
                </a:solidFill>
                <a:latin typeface="Calibri"/>
              </a:rPr>
              <a:t>(#user_id, student_number, filiere, niveau, group_td, date_naissance, date_inscription)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971800"/>
            <a:ext cx="5669280" cy="64008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30175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B2A4A"/>
                </a:solidFill>
                <a:latin typeface="Calibri"/>
              </a:rPr>
              <a:t>teacher_profiles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264408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B2631"/>
                </a:solidFill>
                <a:latin typeface="Calibri"/>
              </a:rPr>
              <a:t>(#user_id, employee_number, department, grade, office, hire_date)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657600"/>
            <a:ext cx="5669280" cy="64008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37033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B2A4A"/>
                </a:solidFill>
                <a:latin typeface="Calibri"/>
              </a:rPr>
              <a:t>courses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3950208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B2631"/>
                </a:solidFill>
                <a:latin typeface="Calibri"/>
              </a:rPr>
              <a:t>(id, code, name, credits, semester, niveau, department, #teacher_id, capacity, is_archived)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4343400"/>
            <a:ext cx="5669280" cy="64008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43891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B2A4A"/>
                </a:solidFill>
                <a:latin typeface="Calibri"/>
              </a:rPr>
              <a:t>prerequisites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636008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B2631"/>
                </a:solidFill>
                <a:latin typeface="Calibri"/>
              </a:rPr>
              <a:t>(#course_id, #prerequisite_course_id)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72200" y="1600200"/>
            <a:ext cx="5669280" cy="64008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16459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B2A4A"/>
                </a:solidFill>
                <a:latin typeface="Calibri"/>
              </a:rPr>
              <a:t>enrollments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1892808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B2631"/>
                </a:solidFill>
                <a:latin typeface="Calibri"/>
              </a:rPr>
              <a:t>(id, #student_id, #course_id, enrolled_at, status)  ·  UNIQUE(student, course)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72200" y="2286000"/>
            <a:ext cx="5669280" cy="64008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3317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B2A4A"/>
                </a:solidFill>
                <a:latin typeface="Calibri"/>
              </a:rPr>
              <a:t>grades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2578608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B2631"/>
                </a:solidFill>
                <a:latin typeface="Calibri"/>
              </a:rPr>
              <a:t>(id, #student_id, #course_id, eval_type, value, coefficient, is_locked, #graded_by)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72200" y="2971800"/>
            <a:ext cx="5669280" cy="64008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30175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B2A4A"/>
                </a:solidFill>
                <a:latin typeface="Calibri"/>
              </a:rPr>
              <a:t>schedule_slots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0" y="3264408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B2631"/>
                </a:solidFill>
                <a:latin typeface="Calibri"/>
              </a:rPr>
              <a:t>(id, #course_id, day_of_week, start_time, end_time, room, group_td)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72200" y="3657600"/>
            <a:ext cx="5669280" cy="64008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37033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B2A4A"/>
                </a:solidFill>
                <a:latin typeface="Calibri"/>
              </a:rPr>
              <a:t>messages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3950208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B2631"/>
                </a:solidFill>
                <a:latin typeface="Calibri"/>
              </a:rPr>
              <a:t>(id, #sender_id, #recipient_id, subject, body, is_read, sent_at, read_at)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72200" y="4343400"/>
            <a:ext cx="5669280" cy="64008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0" y="43891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B2A4A"/>
                </a:solidFill>
                <a:latin typeface="Calibri"/>
              </a:rPr>
              <a:t>notifications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4636008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B2631"/>
                </a:solidFill>
                <a:latin typeface="Calibri"/>
              </a:rPr>
              <a:t>(id, #user_id, type, title, content, link, is_read, created_at)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66019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A89"/>
                </a:solidFill>
                <a:latin typeface="Calibri"/>
              </a:rPr>
              <a:t>SmartCampus  ·  Projet Web dynamique 2026  ·  ING2 — ECE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601968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B7A89"/>
                </a:solidFill>
                <a:latin typeface="Calibri"/>
              </a:rPr>
              <a:t>GOUSSOT · CARMINATI · PEZE · OSORIO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6. Wireframes &amp; storyboard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6B7A89"/>
                </a:solidFill>
                <a:latin typeface="Calibri"/>
              </a:rPr>
              <a:t>Maquettes principales et parcours utilisateurs validés en amont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54480"/>
            <a:ext cx="3840480" cy="2286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27632"/>
            <a:ext cx="2926080" cy="1828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65760" y="352044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B2A4A"/>
                </a:solidFill>
                <a:latin typeface="Calibri"/>
              </a:rPr>
              <a:t>Connexion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80" y="1554480"/>
            <a:ext cx="3840480" cy="2286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tudent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0064" y="1627632"/>
            <a:ext cx="2775712" cy="1828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297680" y="352044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B2A4A"/>
                </a:solidFill>
                <a:latin typeface="Calibri"/>
              </a:rPr>
              <a:t>Dashboard étudiant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0" y="1554480"/>
            <a:ext cx="3840480" cy="2286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teacher-dashbo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61984" y="1627632"/>
            <a:ext cx="2775712" cy="18288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229600" y="352044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B2A4A"/>
                </a:solidFill>
                <a:latin typeface="Calibri"/>
              </a:rPr>
              <a:t>Dashboard enseignant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114800"/>
            <a:ext cx="3840480" cy="2286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admin-dashboar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8144" y="4187952"/>
            <a:ext cx="2775712" cy="18288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65760" y="608076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B2A4A"/>
                </a:solidFill>
                <a:latin typeface="Calibri"/>
              </a:rPr>
              <a:t>Dashboard admin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0" y="4114800"/>
            <a:ext cx="3840480" cy="2286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student-catalogu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30064" y="4187952"/>
            <a:ext cx="2775712" cy="18288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297680" y="608076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B2A4A"/>
                </a:solidFill>
                <a:latin typeface="Calibri"/>
              </a:rPr>
              <a:t>Catalogue cours (filtres/tri)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0" y="4114800"/>
            <a:ext cx="3840480" cy="2286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admin-schedul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61984" y="4187952"/>
            <a:ext cx="2775712" cy="18288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229600" y="608076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B2A4A"/>
                </a:solidFill>
                <a:latin typeface="Calibri"/>
              </a:rPr>
              <a:t>Emploi du temps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6019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A89"/>
                </a:solidFill>
                <a:latin typeface="Calibri"/>
              </a:rPr>
              <a:t>SmartCampus  ·  Projet Web dynamique 2026  ·  ING2 — ECE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0" y="6601968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B7A89"/>
                </a:solidFill>
                <a:latin typeface="Calibri"/>
              </a:rPr>
              <a:t>GOUSSOT · CARMINATI · PEZE · OSORIO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7. Workflows transactionnels &amp; UX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6B7A89"/>
                </a:solidFill>
                <a:latin typeface="Calibri"/>
              </a:rPr>
              <a:t>Parcours critiques : inscription · saisie de note · détection conflit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63040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2E86C1"/>
                </a:solidFill>
                <a:latin typeface="Calibri"/>
              </a:rPr>
              <a:t>Inscription d'un étudiant à un cours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28800"/>
            <a:ext cx="2103120" cy="64008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92024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Calibri"/>
              </a:rPr>
              <a:t>Étudiant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Calibri"/>
              </a:rPr>
              <a:t>clique S'inscrire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0" y="1828800"/>
            <a:ext cx="2103120" cy="64008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34640" y="192024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Calibri"/>
              </a:rPr>
              <a:t>API: vérifie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Calibri"/>
              </a:rPr>
              <a:t>rôle + CSRF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0" y="1828800"/>
            <a:ext cx="2103120" cy="64008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0" y="192024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Calibri"/>
              </a:rPr>
              <a:t>Règles métier: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Calibri"/>
              </a:rPr>
              <a:t>doublon, capacité,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Calibri"/>
              </a:rPr>
              <a:t>prérequis, conflit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0" y="1828800"/>
            <a:ext cx="2103120" cy="64008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06640" y="192024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Calibri"/>
              </a:rPr>
              <a:t>INSERT enrollments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Calibri"/>
              </a:rPr>
              <a:t>(transaction)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601200" y="1828800"/>
            <a:ext cx="2103120" cy="64008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92640" y="192024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Calibri"/>
              </a:rPr>
              <a:t>UI: toast OK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Calibri"/>
              </a:rPr>
              <a:t>+ refresh listes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383280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Calibri"/>
              </a:rPr>
              <a:t>Saisie + verrouillage d'une note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749040"/>
            <a:ext cx="2103120" cy="64008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384048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Calibri"/>
              </a:rPr>
              <a:t>Enseignant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Calibri"/>
              </a:rPr>
              <a:t>saisit note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0" y="3749040"/>
            <a:ext cx="2103120" cy="64008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834640" y="384048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Calibri"/>
              </a:rPr>
              <a:t>Validation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Calibri"/>
              </a:rPr>
              <a:t>(0 ≤ note ≤ 20)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0" y="3749040"/>
            <a:ext cx="2103120" cy="64008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0" y="384048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Calibri"/>
              </a:rPr>
              <a:t>INSERT/UPDATE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Calibri"/>
              </a:rPr>
              <a:t>grades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0" y="3749040"/>
            <a:ext cx="2103120" cy="64008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06640" y="384048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Calibri"/>
              </a:rPr>
              <a:t>Validation finale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Calibri"/>
              </a:rPr>
              <a:t>→ locked=1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601200" y="3749040"/>
            <a:ext cx="2103120" cy="64008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92640" y="384048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Calibri"/>
              </a:rPr>
              <a:t>Modif refusée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Calibri"/>
              </a:rPr>
              <a:t>(blocage métier)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5303520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6A085"/>
                </a:solidFill>
                <a:latin typeface="Calibri"/>
              </a:rPr>
              <a:t>Détection conflit emploi du temps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5669280"/>
            <a:ext cx="2103120" cy="640080"/>
          </a:xfrm>
          <a:prstGeom prst="rect">
            <a:avLst/>
          </a:prstGeom>
          <a:solidFill>
            <a:srgbClr val="16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576072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Calibri"/>
              </a:rPr>
              <a:t>Création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Calibri"/>
              </a:rPr>
              <a:t>créneau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0" y="5669280"/>
            <a:ext cx="2103120" cy="640080"/>
          </a:xfrm>
          <a:prstGeom prst="rect">
            <a:avLst/>
          </a:prstGeom>
          <a:solidFill>
            <a:srgbClr val="16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834640" y="576072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Calibri"/>
              </a:rPr>
              <a:t>SELECT slots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Calibri"/>
              </a:rPr>
              <a:t>WHERE start&lt;? AND end&gt;?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0" y="5669280"/>
            <a:ext cx="2103120" cy="640080"/>
          </a:xfrm>
          <a:prstGeom prst="rect">
            <a:avLst/>
          </a:prstGeom>
          <a:solidFill>
            <a:srgbClr val="16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120640" y="576072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Calibri"/>
              </a:rPr>
              <a:t>Conflit salle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Calibri"/>
              </a:rPr>
              <a:t>ou enseignant ?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315200" y="5669280"/>
            <a:ext cx="2103120" cy="640080"/>
          </a:xfrm>
          <a:prstGeom prst="rect">
            <a:avLst/>
          </a:prstGeom>
          <a:solidFill>
            <a:srgbClr val="16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406640" y="576072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Calibri"/>
              </a:rPr>
              <a:t>Erreur 409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Calibri"/>
              </a:rPr>
              <a:t>+ message clair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601200" y="5669280"/>
            <a:ext cx="2103120" cy="640080"/>
          </a:xfrm>
          <a:prstGeom prst="rect">
            <a:avLst/>
          </a:prstGeom>
          <a:solidFill>
            <a:srgbClr val="16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92640" y="576072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Calibri"/>
              </a:rPr>
              <a:t>Sinon INSERT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Calibri"/>
              </a:rPr>
              <a:t>schedule_slots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5760" y="66019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A89"/>
                </a:solidFill>
                <a:latin typeface="Calibri"/>
              </a:rPr>
              <a:t>SmartCampus  ·  Projet Web dynamique 2026  ·  ING2 — ECE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601968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B7A89"/>
                </a:solidFill>
                <a:latin typeface="Calibri"/>
              </a:rPr>
              <a:t>GOUSSOT · CARMINATI · PEZE · OSORIO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8. Spécifications fonctionnelles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6B7A89"/>
                </a:solidFill>
                <a:latin typeface="Calibri"/>
              </a:rPr>
              <a:t>Fonctionnalités principales par rôle utilisateur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600200"/>
          <a:ext cx="112471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4480560"/>
                <a:gridCol w="4480560"/>
              </a:tblGrid>
              <a:tr h="571500"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Rôle</a:t>
                      </a:r>
                    </a:p>
                  </a:txBody>
                  <a:tcPr>
                    <a:solidFill>
                      <a:srgbClr val="0B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Espace dédié</a:t>
                      </a:r>
                    </a:p>
                  </a:txBody>
                  <a:tcPr>
                    <a:solidFill>
                      <a:srgbClr val="0B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Actions clés</a:t>
                      </a:r>
                    </a:p>
                  </a:txBody>
                  <a:tcPr>
                    <a:solidFill>
                      <a:srgbClr val="0B2A4A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B2631"/>
                          </a:solidFill>
                        </a:rPr>
                        <a:t>Étudiant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B2631"/>
                          </a:solidFill>
                        </a:rPr>
                        <a:t>Tableau de bord, catalogue, mes cours, notes, EDT, messagerie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B2631"/>
                          </a:solidFill>
                        </a:rPr>
                        <a:t>S'inscrire / se désinscrire · consulter notes &amp; EDT · télécharger PDF du relevé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B2631"/>
                          </a:solidFill>
                        </a:rPr>
                        <a:t>Enseignant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B2631"/>
                          </a:solidFill>
                        </a:rPr>
                        <a:t>Dashboard, mes cours, saisie notes, EDT, messagerie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B2631"/>
                          </a:solidFill>
                        </a:rPr>
                        <a:t>Saisir/modifier notes · valider (verrouiller) · gérer cours · écrire aux étudiants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B2631"/>
                          </a:solidFill>
                        </a:rPr>
                        <a:t>Administrateur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B2631"/>
                          </a:solidFill>
                        </a:rPr>
                        <a:t>Gestion users, étudiants, profs, cours, EDT, stats globales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B2631"/>
                          </a:solidFill>
                        </a:rPr>
                        <a:t>CRUD complet · création de cours · planning salles · statistiques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41148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2E86C1"/>
                </a:solidFill>
                <a:latin typeface="Calibri"/>
              </a:rPr>
              <a:t>Justification des choix fonctionnels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26280"/>
            <a:ext cx="1124712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>
                <a:solidFill>
                  <a:srgbClr val="1B2631"/>
                </a:solidFill>
                <a:latin typeface="Calibri"/>
              </a:rPr>
              <a:t>•  Une SPA unique : pas de rechargement, expérience fluide, code organisé en modules ES</a:t>
            </a:r>
          </a:p>
          <a:p>
            <a:pPr algn="l">
              <a:spcAft>
                <a:spcPts val="600"/>
              </a:spcAft>
            </a:pPr>
            <a:r>
              <a:rPr sz="1300">
                <a:solidFill>
                  <a:srgbClr val="1B2631"/>
                </a:solidFill>
                <a:latin typeface="Calibri"/>
              </a:rPr>
              <a:t>•  API REST stateless côté logique métier, session côté authentification (même origine)</a:t>
            </a:r>
          </a:p>
          <a:p>
            <a:pPr algn="l">
              <a:spcAft>
                <a:spcPts val="600"/>
              </a:spcAft>
            </a:pPr>
            <a:r>
              <a:rPr sz="1300">
                <a:solidFill>
                  <a:srgbClr val="1B2631"/>
                </a:solidFill>
                <a:latin typeface="Calibri"/>
              </a:rPr>
              <a:t>•  Recherche + filtres + tri pour les cours : poste à 4 pts dans la grille — UX prioritaire</a:t>
            </a:r>
          </a:p>
          <a:p>
            <a:pPr algn="l">
              <a:spcAft>
                <a:spcPts val="600"/>
              </a:spcAft>
            </a:pPr>
            <a:r>
              <a:rPr sz="1300">
                <a:solidFill>
                  <a:srgbClr val="1B2631"/>
                </a:solidFill>
                <a:latin typeface="Calibri"/>
              </a:rPr>
              <a:t>•  PDF / messagerie / statistiques implémentés en bonus pour démontrer la maîtrise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019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A89"/>
                </a:solidFill>
                <a:latin typeface="Calibri"/>
              </a:rPr>
              <a:t>SmartCampus  ·  Projet Web dynamique 2026  ·  ING2 — ECE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601968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B7A89"/>
                </a:solidFill>
                <a:latin typeface="Calibri"/>
              </a:rPr>
              <a:t>GOUSSOT · CARMINATI · PEZE · OSORIO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9. Règles métier académiques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6B7A89"/>
                </a:solidFill>
                <a:latin typeface="Calibri"/>
              </a:rPr>
              <a:t>6 règles métier implémentées et centralisées dans core/Academic.php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600200"/>
            <a:ext cx="5486400" cy="141732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600200"/>
            <a:ext cx="137160" cy="1417320"/>
          </a:xfrm>
          <a:prstGeom prst="rect">
            <a:avLst/>
          </a:prstGeom>
          <a:solidFill>
            <a:srgbClr val="16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73352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Calibri"/>
              </a:rPr>
              <a:t>1. Double inscription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01168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B2631"/>
                </a:solidFill>
                <a:latin typeface="Calibri"/>
              </a:rPr>
              <a:t>Un étudiant ne peut s'inscrire qu'une fois à un même cours actif.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53288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A89"/>
                </a:solidFill>
                <a:latin typeface="Calibri"/>
              </a:rPr>
              <a:t>Impl. : UNIQUE(student_id, course_id) + pré-check côté contrôleur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1600200"/>
            <a:ext cx="5486400" cy="141732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26480" y="1600200"/>
            <a:ext cx="137160" cy="1417320"/>
          </a:xfrm>
          <a:prstGeom prst="rect">
            <a:avLst/>
          </a:prstGeom>
          <a:solidFill>
            <a:srgbClr val="16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673352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Calibri"/>
              </a:rPr>
              <a:t>2. Capacité maximale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01168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B2631"/>
                </a:solidFill>
                <a:latin typeface="Calibri"/>
              </a:rPr>
              <a:t>Refus si le cours a atteint sa capacité (champ courses.capacity).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53288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A89"/>
                </a:solidFill>
                <a:latin typeface="Calibri"/>
              </a:rPr>
              <a:t>Impl. : COUNT(enrollments) avant INSERT, dans la même transaction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154680"/>
            <a:ext cx="5486400" cy="141732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3154680"/>
            <a:ext cx="137160" cy="1417320"/>
          </a:xfrm>
          <a:prstGeom prst="rect">
            <a:avLst/>
          </a:prstGeom>
          <a:solidFill>
            <a:srgbClr val="16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3227832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Calibri"/>
              </a:rPr>
              <a:t>3. Prérequis académiques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356616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B2631"/>
                </a:solidFill>
                <a:latin typeface="Calibri"/>
              </a:rPr>
              <a:t>Inscription bloquée si un prérequis du cours n'est pas validé.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087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A89"/>
                </a:solidFill>
                <a:latin typeface="Calibri"/>
              </a:rPr>
              <a:t>Impl. : JOIN prerequisites + grades.locked AND value ≥ seuil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6480" y="3154680"/>
            <a:ext cx="5486400" cy="141732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26480" y="3154680"/>
            <a:ext cx="137160" cy="1417320"/>
          </a:xfrm>
          <a:prstGeom prst="rect">
            <a:avLst/>
          </a:prstGeom>
          <a:solidFill>
            <a:srgbClr val="16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3227832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Calibri"/>
              </a:rPr>
              <a:t>4. Conflit horaire étudiant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356616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B2631"/>
                </a:solidFill>
                <a:latin typeface="Calibri"/>
              </a:rPr>
              <a:t>Refus si le créneau chevauche un cours déjà suivi par l'étudiant.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4087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A89"/>
                </a:solidFill>
                <a:latin typeface="Calibri"/>
              </a:rPr>
              <a:t>Impl. : SQL : a.start &lt; b.end AND a.end &gt; b.start (sur slots × enrollments)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709160"/>
            <a:ext cx="5486400" cy="141732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4709160"/>
            <a:ext cx="137160" cy="1417320"/>
          </a:xfrm>
          <a:prstGeom prst="rect">
            <a:avLst/>
          </a:prstGeom>
          <a:solidFill>
            <a:srgbClr val="16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4782312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Calibri"/>
              </a:rPr>
              <a:t>5. Conflit ressource (salle / prof)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512064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B2631"/>
                </a:solidFill>
                <a:latin typeface="Calibri"/>
              </a:rPr>
              <a:t>Refus de planifier un slot si la salle ou l'enseignant est déjà pris.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564184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A89"/>
                </a:solidFill>
                <a:latin typeface="Calibri"/>
              </a:rPr>
              <a:t>Impl. : Même requête de chevauchement, appliquée sur la ressource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26480" y="4709160"/>
            <a:ext cx="5486400" cy="141732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126480" y="4709160"/>
            <a:ext cx="137160" cy="1417320"/>
          </a:xfrm>
          <a:prstGeom prst="rect">
            <a:avLst/>
          </a:prstGeom>
          <a:solidFill>
            <a:srgbClr val="16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4782312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Calibri"/>
              </a:rPr>
              <a:t>6. Verrouillage des notes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512064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B2631"/>
                </a:solidFill>
                <a:latin typeface="Calibri"/>
              </a:rPr>
              <a:t>Une note validée (locked=1) ne peut plus être modifiée.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564184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A89"/>
                </a:solidFill>
                <a:latin typeface="Calibri"/>
              </a:rPr>
              <a:t>Impl. : Garde côté contrôleur + UI désactivée + audit_logs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66019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A89"/>
                </a:solidFill>
                <a:latin typeface="Calibri"/>
              </a:rPr>
              <a:t>SmartCampus  ·  Projet Web dynamique 2026  ·  ING2 — ECE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601968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B7A89"/>
                </a:solidFill>
                <a:latin typeface="Calibri"/>
              </a:rPr>
              <a:t>GOUSSOT · CARMINATI · PEZE · OSORIO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10. Journal d'assistance par IA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6B7A89"/>
                </a:solidFill>
                <a:latin typeface="Calibri"/>
              </a:rPr>
              <a:t>Outils utilisés et tâches assistées — l'IA comme assistante, pas comme substitut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916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2E86C1"/>
                </a:solidFill>
                <a:latin typeface="Calibri"/>
              </a:rPr>
              <a:t>Outils utilisés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03120"/>
            <a:ext cx="548640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>
                <a:solidFill>
                  <a:srgbClr val="1B2631"/>
                </a:solidFill>
                <a:latin typeface="Calibri"/>
              </a:rPr>
              <a:t>•  Assistant IA (Claude / ChatGPT) — conception, génération de squelettes, explications, débogage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B2631"/>
                </a:solidFill>
                <a:latin typeface="Calibri"/>
              </a:rPr>
              <a:t>•  GitHub Copilot — auto-complétion ponctuelle dans VS Code (composants UI répétitifs)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B2631"/>
                </a:solidFill>
                <a:latin typeface="Calibri"/>
              </a:rPr>
              <a:t>•  Documentation officielle — PHP (PDO, password_hash), MDN (fetch, ES Modules), Bootstrap, FPDF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B2631"/>
                </a:solidFill>
                <a:latin typeface="Calibri"/>
              </a:rPr>
              <a:t>•  StackOverflow — vérifications croisées sur les questions SQL non triviales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916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2E86C1"/>
                </a:solidFill>
                <a:latin typeface="Calibri"/>
              </a:rPr>
              <a:t>Tâches assistées par 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2103120"/>
            <a:ext cx="548640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>
                <a:solidFill>
                  <a:srgbClr val="1B2631"/>
                </a:solidFill>
                <a:latin typeface="Calibri"/>
              </a:rPr>
              <a:t>•  Modèle entité-association — discussion des cardinalités (héritage users→profils)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B2631"/>
                </a:solidFill>
                <a:latin typeface="Calibri"/>
              </a:rPr>
              <a:t>•  Noyau backend — routeur REST, réponses JSON, validation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B2631"/>
                </a:solidFill>
                <a:latin typeface="Calibri"/>
              </a:rPr>
              <a:t>•  Règles métier — requête SQL de chevauchement horaire (start&lt;? AND end&gt;?)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B2631"/>
                </a:solidFill>
                <a:latin typeface="Calibri"/>
              </a:rPr>
              <a:t>•  Composants frontend répétitifs — modales, tableaux dynamiques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B2631"/>
                </a:solidFill>
                <a:latin typeface="Calibri"/>
              </a:rPr>
              <a:t>•  Débogage ponctuel — génération PDF, encodage CSRF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B2631"/>
                </a:solidFill>
                <a:latin typeface="Calibri"/>
              </a:rPr>
              <a:t>•  Rédaction documentaire — squelettes des fichiers docs/ ensuite relus et adaptés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6019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A89"/>
                </a:solidFill>
                <a:latin typeface="Calibri"/>
              </a:rPr>
              <a:t>SmartCampus  ·  Projet Web dynamique 2026  ·  ING2 — ECE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6601968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B7A89"/>
                </a:solidFill>
                <a:latin typeface="Calibri"/>
              </a:rPr>
              <a:t>GOUSSOT · CARMINATI · PEZE · OSORIO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10. Journal IA (2/2) — analyse critique &amp; limites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6A085"/>
                </a:solidFill>
                <a:latin typeface="Calibri"/>
              </a:rPr>
              <a:t>Réponses utiles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45920"/>
            <a:ext cx="548640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>
                <a:solidFill>
                  <a:srgbClr val="1B2631"/>
                </a:solidFill>
                <a:latin typeface="Calibri"/>
              </a:rPr>
              <a:t>•  Structure mini-MVC sans framework : claire et facile à expliquer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B2631"/>
                </a:solidFill>
                <a:latin typeface="Calibri"/>
              </a:rPr>
              <a:t>•  Requête SQL de chevauchement horaire : correcte et concise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B2631"/>
                </a:solidFill>
                <a:latin typeface="Calibri"/>
              </a:rPr>
              <a:t>•  Rappels sécurité : bcrypt, requêtes préparées, HttpOnly, CSRF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B2631"/>
                </a:solidFill>
                <a:latin typeface="Calibri"/>
              </a:rPr>
              <a:t>•  Suggestions d'organisation des dossiers (core/, controllers/)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344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2E86C1"/>
                </a:solidFill>
                <a:latin typeface="Calibri"/>
              </a:rPr>
              <a:t>Réponses corrigées / écartées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45920"/>
            <a:ext cx="548640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>
                <a:solidFill>
                  <a:srgbClr val="1B2631"/>
                </a:solidFill>
                <a:latin typeface="Calibri"/>
              </a:rPr>
              <a:t>•  FPDF sans dossier font/ → PDF corrompu ; ajout du dossier + désactivation des warnings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B2631"/>
                </a:solidFill>
                <a:latin typeface="Calibri"/>
              </a:rPr>
              <a:t>•  Proposition Laravel : écartée (sujet déconseille les générateurs lourds)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B2631"/>
                </a:solidFill>
                <a:latin typeface="Calibri"/>
              </a:rPr>
              <a:t>•  Auth JWT proposée : remplacée par sessions PHP (même origine, plus simple)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B2631"/>
                </a:solidFill>
                <a:latin typeface="Calibri"/>
              </a:rPr>
              <a:t>•  Validation uniquement côté client : doublée côté serveur (client contournable)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B2631"/>
                </a:solidFill>
                <a:latin typeface="Calibri"/>
              </a:rPr>
              <a:t>•  Identifiants DB en dur : déplacés dans config.local.php non versionné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148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B2A4A"/>
                </a:solidFill>
                <a:latin typeface="Calibri"/>
              </a:rPr>
              <a:t>Limites observées (recul critique)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26280"/>
            <a:ext cx="1124712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>
                <a:solidFill>
                  <a:srgbClr val="1B2631"/>
                </a:solidFill>
                <a:latin typeface="Calibri"/>
              </a:rPr>
              <a:t>•  Code plausible mais incomplet : dépendances oubliées (polices FPDF) → toujours tester réellement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B2631"/>
                </a:solidFill>
                <a:latin typeface="Calibri"/>
              </a:rPr>
              <a:t>•  Manque de contexte : ne connaît ni notre version PHP exacte ni notre mot de passe MySQL → adaptation manuelle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B2631"/>
                </a:solidFill>
                <a:latin typeface="Calibri"/>
              </a:rPr>
              <a:t>•  Tendance au sur-dimensionnement : propose souvent Docker, Redis, Vite… → écarté pour rester pédagogique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B2631"/>
                </a:solidFill>
                <a:latin typeface="Calibri"/>
              </a:rPr>
              <a:t>•  Notre démarche : lire + comprendre + adapter + tester + savoir expliquer (chacun doit pouvoir défendre le code)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6019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A89"/>
                </a:solidFill>
                <a:latin typeface="Calibri"/>
              </a:rPr>
              <a:t>SmartCampus  ·  Projet Web dynamique 2026  ·  ING2 — ECE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601968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B7A89"/>
                </a:solidFill>
                <a:latin typeface="Calibri"/>
              </a:rPr>
              <a:t>GOUSSOT · CARMINATI · PEZE · OSORIO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11. Rapport de compromis techniques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2E86C1"/>
                </a:solidFill>
                <a:latin typeface="Calibri"/>
              </a:rPr>
              <a:t>Difficultés rencontrées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548640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>
                <a:solidFill>
                  <a:srgbClr val="1B2631"/>
                </a:solidFill>
                <a:latin typeface="Calibri"/>
              </a:rPr>
              <a:t>•  FPDF cassé par un warning PHP avant le binaire (fix : ajout font/ + display_errors=0)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B2631"/>
                </a:solidFill>
                <a:latin typeface="Calibri"/>
              </a:rPr>
              <a:t>•  Détection des conflits horaires en SQL : exprimer le chevauchement et distinguer conflit étudiant vs ressource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B2631"/>
                </a:solidFill>
                <a:latin typeface="Calibri"/>
              </a:rPr>
              <a:t>•  Routage sans framework : segments dynamiques {id} compatibles Apache .htaccess et serveur PHP intégré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B2631"/>
                </a:solidFill>
                <a:latin typeface="Calibri"/>
              </a:rPr>
              <a:t>•  Cohérence cache local frontend / base après mutation : refresh ciblé après chaque action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1887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2E86C1"/>
                </a:solidFill>
                <a:latin typeface="Calibri"/>
              </a:rPr>
              <a:t>Compromis assumés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00200"/>
            <a:ext cx="548640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>
                <a:solidFill>
                  <a:srgbClr val="1B2631"/>
                </a:solidFill>
                <a:latin typeface="Calibri"/>
              </a:rPr>
              <a:t>•  Sessions PHP plutôt que JWT : moins flexible multi-clients, plus simple en même origine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B2631"/>
                </a:solidFill>
                <a:latin typeface="Calibri"/>
              </a:rPr>
              <a:t>•  Mini-MVC maison plutôt qu'un framework : réinvention de briques basiques, en échange compréhension totale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B2631"/>
                </a:solidFill>
                <a:latin typeface="Calibri"/>
              </a:rPr>
              <a:t>•  ES Modules sans bundler : pas d'optimisation, mais zéro étape de build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B2631"/>
                </a:solidFill>
                <a:latin typeface="Calibri"/>
              </a:rPr>
              <a:t>•  Vendors locaux (Bootstrap, Chart.js) : ~900 Ko versionnés, démo hors-ligne garantie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148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B2A4A"/>
                </a:solidFill>
                <a:latin typeface="Calibri"/>
              </a:rPr>
              <a:t>Limites actuelles &amp; évolutions possibles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26280"/>
            <a:ext cx="1124712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>
                <a:solidFill>
                  <a:srgbClr val="1B2631"/>
                </a:solidFill>
                <a:latin typeface="Calibri"/>
              </a:rPr>
              <a:t>•  Pas de pagination sur les listes : suffisant en démo, à ajouter pour des effectifs réels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B2631"/>
                </a:solidFill>
                <a:latin typeface="Calibri"/>
              </a:rPr>
              <a:t>•  Sécurité « pédagogique » : pas de rate limiting, pas de HTTPS local, politique de mot de passe simple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B2631"/>
                </a:solidFill>
                <a:latin typeface="Calibri"/>
              </a:rPr>
              <a:t>•  Emploi du temps hebdo générique : pas de gestion calendaire (dates, semaines A/B, vacances)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B2631"/>
                </a:solidFill>
                <a:latin typeface="Calibri"/>
              </a:rPr>
              <a:t>•  Évolutions : pagination serveur, présences/QR code, export Excel, calendrier interactif, tests automatisés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6019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A89"/>
                </a:solidFill>
                <a:latin typeface="Calibri"/>
              </a:rPr>
              <a:t>SmartCampus  ·  Projet Web dynamique 2026  ·  ING2 — ECE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601968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B7A89"/>
                </a:solidFill>
                <a:latin typeface="Calibri"/>
              </a:rPr>
              <a:t>GOUSSOT · CARMINATI · PEZE · OSORIO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12. Versioning Git &amp; GitHub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6B7A89"/>
                </a:solidFill>
                <a:latin typeface="Calibri"/>
              </a:rPr>
              <a:t>Dépôt : github.com/ViktorGs/smartcampus-projet-web-2026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2E86C1"/>
                </a:solidFill>
                <a:latin typeface="Calibri"/>
              </a:rPr>
              <a:t>Historique de progression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057400"/>
            <a:ext cx="822960" cy="29260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057400"/>
            <a:ext cx="8229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25 mai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093976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B2631"/>
                </a:solidFill>
                <a:latin typeface="Calibri"/>
              </a:rPr>
              <a:t>chore: initialisation du projet (README, gitignore)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441448"/>
            <a:ext cx="822960" cy="29260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441448"/>
            <a:ext cx="8229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25 mai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2478024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B2631"/>
                </a:solidFill>
                <a:latin typeface="Calibri"/>
              </a:rPr>
              <a:t>feat(db): schéma relationnel + données de démonstration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825496"/>
            <a:ext cx="822960" cy="29260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2825496"/>
            <a:ext cx="8229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26 mai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286207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B2631"/>
                </a:solidFill>
                <a:latin typeface="Calibri"/>
              </a:rPr>
              <a:t>feat(api): noyau backend (PDO, routeur REST, auth, CSRF, validation)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09544"/>
            <a:ext cx="822960" cy="29260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209544"/>
            <a:ext cx="8229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27 mai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324612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B2631"/>
                </a:solidFill>
                <a:latin typeface="Calibri"/>
              </a:rPr>
              <a:t>feat(api): CRUD utilisateurs, étudiants, enseignants, cours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593592"/>
            <a:ext cx="822960" cy="29260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3593592"/>
            <a:ext cx="8229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28 mai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3630168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B2631"/>
                </a:solidFill>
                <a:latin typeface="Calibri"/>
              </a:rPr>
              <a:t>feat(api): inscriptions, notes, emploi du temps + règles métier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977640"/>
            <a:ext cx="822960" cy="29260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3977640"/>
            <a:ext cx="8229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29 mai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17320" y="4014216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B2631"/>
                </a:solidFill>
                <a:latin typeface="Calibri"/>
              </a:rPr>
              <a:t>feat(api): bonus — relevé PDF, messagerie, notifications, dashboards, stats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361688"/>
            <a:ext cx="822960" cy="29260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4361688"/>
            <a:ext cx="8229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30 mai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17320" y="4398264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B2631"/>
                </a:solidFill>
                <a:latin typeface="Calibri"/>
              </a:rPr>
              <a:t>feat(front): coquille SPA, design Bootstrap, noyau JS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4745736"/>
            <a:ext cx="822960" cy="29260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4745736"/>
            <a:ext cx="8229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30 mai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20" y="478231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B2631"/>
                </a:solidFill>
                <a:latin typeface="Calibri"/>
              </a:rPr>
              <a:t>feat(front): pages (dashboards, étudiants, cours, notes, EDT, messagerie, stats)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5129784"/>
            <a:ext cx="822960" cy="29260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5129784"/>
            <a:ext cx="8229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31 mai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17320" y="516636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B2631"/>
                </a:solidFill>
                <a:latin typeface="Calibri"/>
              </a:rPr>
              <a:t>docs: spécifications, MCD, architecture, wireframes, rapports + livrable final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5605272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2E86C1"/>
                </a:solidFill>
                <a:latin typeface="Calibri"/>
              </a:rPr>
              <a:t>Organisation GitHub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6016752"/>
            <a:ext cx="112471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>
                <a:solidFill>
                  <a:srgbClr val="1B2631"/>
                </a:solidFill>
                <a:latin typeface="Calibri"/>
              </a:rPr>
              <a:t>•  Conventions de commit : feat / fix / docs / chore — historique lisible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B2631"/>
                </a:solidFill>
                <a:latin typeface="Calibri"/>
              </a:rPr>
              <a:t>•  Branche main maintenue stable ; branches courtes par fonctionnalité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B2631"/>
                </a:solidFill>
                <a:latin typeface="Calibri"/>
              </a:rPr>
              <a:t>•  Pas de commit massif de fin : progression jour par jour visible dans `git log`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66019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A89"/>
                </a:solidFill>
                <a:latin typeface="Calibri"/>
              </a:rPr>
              <a:t>SmartCampus  ·  Projet Web dynamique 2026  ·  ING2 — ECE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601968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B7A89"/>
                </a:solidFill>
                <a:latin typeface="Calibri"/>
              </a:rPr>
              <a:t>GOUSSOT · CARMINATI · PEZE · OSORIO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13. Bilan individuel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5486400" cy="246888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137160" cy="246888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Calibri"/>
              </a:rPr>
              <a:t>Viktor GOUSSOT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783080"/>
            <a:ext cx="50292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>
                <a:solidFill>
                  <a:srgbClr val="1B2631"/>
                </a:solidFill>
                <a:latin typeface="Calibri"/>
              </a:rPr>
              <a:t>•  Réalisé : noyau backend, auth, CSRF, RBAC, CRUD principal</a:t>
            </a:r>
          </a:p>
          <a:p>
            <a:pPr algn="l">
              <a:spcAft>
                <a:spcPts val="600"/>
              </a:spcAft>
            </a:pPr>
            <a:r>
              <a:rPr sz="1100">
                <a:solidFill>
                  <a:srgbClr val="1B2631"/>
                </a:solidFill>
                <a:latin typeface="Calibri"/>
              </a:rPr>
              <a:t>•  Appris : architecture MVC sans framework, sécurité applicative</a:t>
            </a:r>
          </a:p>
          <a:p>
            <a:pPr algn="l">
              <a:spcAft>
                <a:spcPts val="600"/>
              </a:spcAft>
            </a:pPr>
            <a:r>
              <a:rPr sz="1100">
                <a:solidFill>
                  <a:srgbClr val="1B2631"/>
                </a:solidFill>
                <a:latin typeface="Calibri"/>
              </a:rPr>
              <a:t>•  Difficulté : routage segments dynamiques compatible Apache + PHP intégré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234440"/>
            <a:ext cx="5486400" cy="246888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26480" y="1234440"/>
            <a:ext cx="137160" cy="246888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3258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Calibri"/>
              </a:rPr>
              <a:t>Nicolas CARMINATI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783080"/>
            <a:ext cx="50292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>
                <a:solidFill>
                  <a:srgbClr val="1B2631"/>
                </a:solidFill>
                <a:latin typeface="Calibri"/>
              </a:rPr>
              <a:t>•  Réalisé : MCD/MR, schéma SQL, règles métier centralisées, PDF</a:t>
            </a:r>
          </a:p>
          <a:p>
            <a:pPr algn="l">
              <a:spcAft>
                <a:spcPts val="600"/>
              </a:spcAft>
            </a:pPr>
            <a:r>
              <a:rPr sz="1100">
                <a:solidFill>
                  <a:srgbClr val="1B2631"/>
                </a:solidFill>
                <a:latin typeface="Calibri"/>
              </a:rPr>
              <a:t>•  Appris : modélisation académique, requêtes SQL non triviales</a:t>
            </a:r>
          </a:p>
          <a:p>
            <a:pPr algn="l">
              <a:spcAft>
                <a:spcPts val="600"/>
              </a:spcAft>
            </a:pPr>
            <a:r>
              <a:rPr sz="1100">
                <a:solidFill>
                  <a:srgbClr val="1B2631"/>
                </a:solidFill>
                <a:latin typeface="Calibri"/>
              </a:rPr>
              <a:t>•  Difficulté : génération PDF cassée par un warning PHP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840480"/>
            <a:ext cx="5486400" cy="246888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40480"/>
            <a:ext cx="137160" cy="2468880"/>
          </a:xfrm>
          <a:prstGeom prst="rect">
            <a:avLst/>
          </a:prstGeom>
          <a:solidFill>
            <a:srgbClr val="16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9319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Calibri"/>
              </a:rPr>
              <a:t>Louis PEZE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89120"/>
            <a:ext cx="50292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>
                <a:solidFill>
                  <a:srgbClr val="1B2631"/>
                </a:solidFill>
                <a:latin typeface="Calibri"/>
              </a:rPr>
              <a:t>•  Réalisé : coquille SPA, pages de gestion, filtres, messagerie</a:t>
            </a:r>
          </a:p>
          <a:p>
            <a:pPr algn="l">
              <a:spcAft>
                <a:spcPts val="600"/>
              </a:spcAft>
            </a:pPr>
            <a:r>
              <a:rPr sz="1100">
                <a:solidFill>
                  <a:srgbClr val="1B2631"/>
                </a:solidFill>
                <a:latin typeface="Calibri"/>
              </a:rPr>
              <a:t>•  Appris : ES Modules natifs, design system Bootstrap</a:t>
            </a:r>
          </a:p>
          <a:p>
            <a:pPr algn="l">
              <a:spcAft>
                <a:spcPts val="600"/>
              </a:spcAft>
            </a:pPr>
            <a:r>
              <a:rPr sz="1100">
                <a:solidFill>
                  <a:srgbClr val="1B2631"/>
                </a:solidFill>
                <a:latin typeface="Calibri"/>
              </a:rPr>
              <a:t>•  Difficulté : cohérence cache local après mutation simultanée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3840480"/>
            <a:ext cx="5486400" cy="246888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3840480"/>
            <a:ext cx="137160" cy="246888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39319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Calibri"/>
              </a:rPr>
              <a:t>Alexis OSORIO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4389120"/>
            <a:ext cx="50292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>
                <a:solidFill>
                  <a:srgbClr val="1B2631"/>
                </a:solidFill>
                <a:latin typeface="Calibri"/>
              </a:rPr>
              <a:t>•  Réalisé : dashboards 3 rôles, EDT, statistiques Chart.js, tests</a:t>
            </a:r>
          </a:p>
          <a:p>
            <a:pPr algn="l">
              <a:spcAft>
                <a:spcPts val="600"/>
              </a:spcAft>
            </a:pPr>
            <a:r>
              <a:rPr sz="1100">
                <a:solidFill>
                  <a:srgbClr val="1B2631"/>
                </a:solidFill>
                <a:latin typeface="Calibri"/>
              </a:rPr>
              <a:t>•  Appris : visualisation de données, UI contextuelle par rôle</a:t>
            </a:r>
          </a:p>
          <a:p>
            <a:pPr algn="l">
              <a:spcAft>
                <a:spcPts val="600"/>
              </a:spcAft>
            </a:pPr>
            <a:r>
              <a:rPr sz="1100">
                <a:solidFill>
                  <a:srgbClr val="1B2631"/>
                </a:solidFill>
                <a:latin typeface="Calibri"/>
              </a:rPr>
              <a:t>•  Difficulté : lisibilité de l'emploi du temps sur mobile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66019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A89"/>
                </a:solidFill>
                <a:latin typeface="Calibri"/>
              </a:rPr>
              <a:t>SmartCampus  ·  Projet Web dynamique 2026  ·  ING2 — ECE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0" y="6601968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B7A89"/>
                </a:solidFill>
                <a:latin typeface="Calibri"/>
              </a:rPr>
              <a:t>GOUSSOT · CARMINATI · PEZE · OSORIO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14. Bilan collectif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6A085"/>
                </a:solidFill>
                <a:latin typeface="Calibri"/>
              </a:rPr>
              <a:t>Ce qui a bien fonctionné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91640"/>
            <a:ext cx="1124712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>
                <a:solidFill>
                  <a:srgbClr val="1B2631"/>
                </a:solidFill>
                <a:latin typeface="Calibri"/>
              </a:rPr>
              <a:t>•  Séparation claire frontend / backend — chacun a pu avancer en parallèle</a:t>
            </a:r>
          </a:p>
          <a:p>
            <a:pPr algn="l">
              <a:spcAft>
                <a:spcPts val="600"/>
              </a:spcAft>
            </a:pPr>
            <a:r>
              <a:rPr sz="1300">
                <a:solidFill>
                  <a:srgbClr val="1B2631"/>
                </a:solidFill>
                <a:latin typeface="Calibri"/>
              </a:rPr>
              <a:t>•  Mini-noyau MVC explicite : chaque membre peut le lire et l'expliquer en soutenance</a:t>
            </a:r>
          </a:p>
          <a:p>
            <a:pPr algn="l">
              <a:spcAft>
                <a:spcPts val="600"/>
              </a:spcAft>
            </a:pPr>
            <a:r>
              <a:rPr sz="1300">
                <a:solidFill>
                  <a:srgbClr val="1B2631"/>
                </a:solidFill>
                <a:latin typeface="Calibri"/>
              </a:rPr>
              <a:t>•  Choix d'un contexte précis (école d'ingénieurs) qui a guidé toutes les décisions</a:t>
            </a:r>
          </a:p>
          <a:p>
            <a:pPr algn="l">
              <a:spcAft>
                <a:spcPts val="600"/>
              </a:spcAft>
            </a:pPr>
            <a:r>
              <a:rPr sz="1300">
                <a:solidFill>
                  <a:srgbClr val="1B2631"/>
                </a:solidFill>
                <a:latin typeface="Calibri"/>
              </a:rPr>
              <a:t>•  Conventions de commit partagées : historique Git lisible et exploitable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3832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2E86C1"/>
                </a:solidFill>
                <a:latin typeface="Calibri"/>
              </a:rPr>
              <a:t>Ce qui a été difficile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794760"/>
            <a:ext cx="112471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>
                <a:solidFill>
                  <a:srgbClr val="1B2631"/>
                </a:solidFill>
                <a:latin typeface="Calibri"/>
              </a:rPr>
              <a:t>•  Règles métier transverses (conflits horaires étudiant vs ressource)</a:t>
            </a:r>
          </a:p>
          <a:p>
            <a:pPr algn="l">
              <a:spcAft>
                <a:spcPts val="600"/>
              </a:spcAft>
            </a:pPr>
            <a:r>
              <a:rPr sz="1300">
                <a:solidFill>
                  <a:srgbClr val="1B2631"/>
                </a:solidFill>
                <a:latin typeface="Calibri"/>
              </a:rPr>
              <a:t>•  Gestion fine des permissions : 3 rôles × N actions</a:t>
            </a:r>
          </a:p>
          <a:p>
            <a:pPr algn="l">
              <a:spcAft>
                <a:spcPts val="600"/>
              </a:spcAft>
            </a:pPr>
            <a:r>
              <a:rPr sz="1300">
                <a:solidFill>
                  <a:srgbClr val="1B2631"/>
                </a:solidFill>
                <a:latin typeface="Calibri"/>
              </a:rPr>
              <a:t>•  Renoncer aux fonctionnalités séduisantes hors-périmètre (QR code, WebSocket temps réel)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07492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B2A4A"/>
                </a:solidFill>
                <a:latin typeface="Calibri"/>
              </a:rPr>
              <a:t>Ce que l'on referait différemment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486400"/>
            <a:ext cx="1124712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>
                <a:solidFill>
                  <a:srgbClr val="1B2631"/>
                </a:solidFill>
                <a:latin typeface="Calibri"/>
              </a:rPr>
              <a:t>•  Mettre en place des tests automatisés dès le début (PHPUnit + Playwright)</a:t>
            </a:r>
          </a:p>
          <a:p>
            <a:pPr algn="l">
              <a:spcAft>
                <a:spcPts val="600"/>
              </a:spcAft>
            </a:pPr>
            <a:r>
              <a:rPr sz="1300">
                <a:solidFill>
                  <a:srgbClr val="1B2631"/>
                </a:solidFill>
                <a:latin typeface="Calibri"/>
              </a:rPr>
              <a:t>•  Commencer par la maquette des dashboards (point de convergence)</a:t>
            </a:r>
          </a:p>
          <a:p>
            <a:pPr algn="l">
              <a:spcAft>
                <a:spcPts val="600"/>
              </a:spcAft>
            </a:pPr>
            <a:r>
              <a:rPr sz="1300">
                <a:solidFill>
                  <a:srgbClr val="1B2631"/>
                </a:solidFill>
                <a:latin typeface="Calibri"/>
              </a:rPr>
              <a:t>•  Prévoir la pagination dès le schéma initial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6019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A89"/>
                </a:solidFill>
                <a:latin typeface="Calibri"/>
              </a:rPr>
              <a:t>SmartCampus  ·  Projet Web dynamique 2026  ·  ING2 — ECE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601968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B7A89"/>
                </a:solidFill>
                <a:latin typeface="Calibri"/>
              </a:rPr>
              <a:t>GOUSSOT · CARMINATI · PEZE · OSORIO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15. Références et ressources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2E86C1"/>
                </a:solidFill>
                <a:latin typeface="Calibri"/>
              </a:rPr>
              <a:t>Bibliothèques &amp; frameworks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91640"/>
            <a:ext cx="548640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>
                <a:solidFill>
                  <a:srgbClr val="1B2631"/>
                </a:solidFill>
                <a:latin typeface="Calibri"/>
              </a:rPr>
              <a:t>•  Bootstrap 5.3 — design system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B2631"/>
                </a:solidFill>
                <a:latin typeface="Calibri"/>
              </a:rPr>
              <a:t>•  Bootstrap Icons — pictogrammes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B2631"/>
                </a:solidFill>
                <a:latin typeface="Calibri"/>
              </a:rPr>
              <a:t>•  Chart.js 4 — graphiques (statistiques)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B2631"/>
                </a:solidFill>
                <a:latin typeface="Calibri"/>
              </a:rPr>
              <a:t>•  FPDF 1.86 — génération PDF du relevé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B2631"/>
                </a:solidFill>
                <a:latin typeface="Calibri"/>
              </a:rPr>
              <a:t>•  PHP 8.2 — backend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B2631"/>
                </a:solidFill>
                <a:latin typeface="Calibri"/>
              </a:rPr>
              <a:t>•  MySQL 8.4 — base de données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2E86C1"/>
                </a:solidFill>
                <a:latin typeface="Calibri"/>
              </a:rPr>
              <a:t>Documentation &amp; outils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91640"/>
            <a:ext cx="548640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>
                <a:solidFill>
                  <a:srgbClr val="1B2631"/>
                </a:solidFill>
                <a:latin typeface="Calibri"/>
              </a:rPr>
              <a:t>•  php.net — PDO, password_hash, sessions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B2631"/>
                </a:solidFill>
                <a:latin typeface="Calibri"/>
              </a:rPr>
              <a:t>•  MDN Web Docs — fetch, ES Modules, FormData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B2631"/>
                </a:solidFill>
                <a:latin typeface="Calibri"/>
              </a:rPr>
              <a:t>•  getbootstrap.com — composants UI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B2631"/>
                </a:solidFill>
                <a:latin typeface="Calibri"/>
              </a:rPr>
              <a:t>•  WAMP Server — environnement local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B2631"/>
                </a:solidFill>
                <a:latin typeface="Calibri"/>
              </a:rPr>
              <a:t>•  VS Code + Live Server — édition / preview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B2631"/>
                </a:solidFill>
                <a:latin typeface="Calibri"/>
              </a:rPr>
              <a:t>•  Git + GitHub — versioning et collaboration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93776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B2A4A"/>
                </a:solidFill>
                <a:latin typeface="Calibri"/>
              </a:rPr>
              <a:t>Outils d'IA générative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349240"/>
            <a:ext cx="112471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>
                <a:solidFill>
                  <a:srgbClr val="1B2631"/>
                </a:solidFill>
                <a:latin typeface="Calibri"/>
              </a:rPr>
              <a:t>•  Claude (Anthropic) — conception, génération de squelettes, débogage, rédaction documentaire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B2631"/>
                </a:solidFill>
                <a:latin typeface="Calibri"/>
              </a:rPr>
              <a:t>•  ChatGPT (OpenAI) — vérifications croisées, explications de mécanismes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B2631"/>
                </a:solidFill>
                <a:latin typeface="Calibri"/>
              </a:rPr>
              <a:t>•  GitHub Copilot — auto-complétion ponctuelle dans VS Code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6019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A89"/>
                </a:solidFill>
                <a:latin typeface="Calibri"/>
              </a:rPr>
              <a:t>SmartCampus  ·  Projet Web dynamique 2026  ·  ING2 — ECE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601968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B7A89"/>
                </a:solidFill>
                <a:latin typeface="Calibri"/>
              </a:rPr>
              <a:t>GOUSSOT · CARMINATI · PEZE · OSORIO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137160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Calibri"/>
              </a:rPr>
              <a:t>SmartCampus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>
                <a:solidFill>
                  <a:srgbClr val="FFFFFF"/>
                </a:solidFill>
                <a:latin typeface="Calibri"/>
              </a:rPr>
              <a:t>Place à la démonstration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88036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Merci de votre attention.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5204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Calibri"/>
              </a:rPr>
              <a:t>Questions 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12064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github.com/ViktorGs/smartcampus-projet-web-2026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57784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Équipe : Viktor GOUSSOT · Nicolas CARMINATI · Louis PEZE · Alexis OSORIO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